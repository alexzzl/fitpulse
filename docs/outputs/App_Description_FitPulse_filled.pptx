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661" r:id="rId2"/>
  </p:sldMasterIdLst>
  <p:notesMasterIdLst>
    <p:notesMasterId r:id="rId16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9" r:id="rId13"/>
    <p:sldId id="266" r:id="rId14"/>
    <p:sldId id="267" r:id="rId15"/>
  </p:sldIdLst>
  <p:sldSz cx="9144000" cy="6858000" type="screen4x3"/>
  <p:notesSz cx="6858000" cy="9144000"/>
  <p:embeddedFontLst>
    <p:embeddedFont>
      <p:font typeface="Constantia" panose="02030602050306030303" pitchFamily="18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5375610-7600-4973-BF82-191DA6F836F1}">
  <a:tblStyle styleId="{25375610-7600-4973-BF82-191DA6F836F1}" styleName="Table_0">
    <a:wholeTbl>
      <a:tcTxStyle b="off" i="off">
        <a:font>
          <a:latin typeface="Constantia"/>
          <a:ea typeface="Constantia"/>
          <a:cs typeface="Constantia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BF5"/>
          </a:solidFill>
        </a:fill>
      </a:tcStyle>
    </a:wholeTbl>
    <a:band1H>
      <a:tcTxStyle/>
      <a:tcStyle>
        <a:tcBdr/>
        <a:fill>
          <a:solidFill>
            <a:srgbClr val="CA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0D7D541-CF8F-4543-9F64-9DD65BD08CB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2060" y="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>
          <a:extLst>
            <a:ext uri="{FF2B5EF4-FFF2-40B4-BE49-F238E27FC236}">
              <a16:creationId xmlns:a16="http://schemas.microsoft.com/office/drawing/2014/main" id="{06DBDF70-FC9E-8106-FDD0-81B511D86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>
            <a:extLst>
              <a:ext uri="{FF2B5EF4-FFF2-40B4-BE49-F238E27FC236}">
                <a16:creationId xmlns:a16="http://schemas.microsoft.com/office/drawing/2014/main" id="{8DD57A7A-8B02-94E2-CB7D-405CEA71A6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9:notes">
            <a:extLst>
              <a:ext uri="{FF2B5EF4-FFF2-40B4-BE49-F238E27FC236}">
                <a16:creationId xmlns:a16="http://schemas.microsoft.com/office/drawing/2014/main" id="{8E197790-23D1-2EC2-C19B-4D35A9796E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75578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>
          <a:extLst>
            <a:ext uri="{FF2B5EF4-FFF2-40B4-BE49-F238E27FC236}">
              <a16:creationId xmlns:a16="http://schemas.microsoft.com/office/drawing/2014/main" id="{3A8B8595-A8B8-BF2A-9337-183D578F2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>
            <a:extLst>
              <a:ext uri="{FF2B5EF4-FFF2-40B4-BE49-F238E27FC236}">
                <a16:creationId xmlns:a16="http://schemas.microsoft.com/office/drawing/2014/main" id="{B6D7A151-CE98-2DD3-DD2B-E0D1C09A27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0:notes">
            <a:extLst>
              <a:ext uri="{FF2B5EF4-FFF2-40B4-BE49-F238E27FC236}">
                <a16:creationId xmlns:a16="http://schemas.microsoft.com/office/drawing/2014/main" id="{B3E70C95-D058-E7FA-0587-2DBC3BC6B6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67094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7185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marL="914400" lvl="1" indent="-325755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marL="2286000" lvl="4" indent="-302895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8275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4CE0EA"/>
              </a:buClr>
              <a:buSzPts val="5600"/>
              <a:buFont typeface="Calibri"/>
              <a:buNone/>
              <a:defRPr sz="5600" b="1">
                <a:solidFill>
                  <a:srgbClr val="4CE0EA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rmAutofit/>
          </a:bodyPr>
          <a:lstStyle>
            <a:lvl1pPr marR="45720" lvl="0" algn="r">
              <a:spcBef>
                <a:spcPts val="520"/>
              </a:spcBef>
              <a:spcAft>
                <a:spcPts val="0"/>
              </a:spcAft>
              <a:buSzPts val="247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360"/>
              </a:spcBef>
              <a:spcAft>
                <a:spcPts val="0"/>
              </a:spcAft>
              <a:buSzPts val="153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5pPr>
            <a:lvl6pPr lvl="5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6pPr>
            <a:lvl7pPr lvl="6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7pPr>
            <a:lvl8pPr lvl="7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4AE3AC"/>
              </a:buClr>
              <a:buSzPts val="5600"/>
              <a:buFont typeface="Calibri"/>
              <a:buNone/>
              <a:defRPr sz="5600" b="1" cap="none">
                <a:solidFill>
                  <a:srgbClr val="4AE3A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spcBef>
                <a:spcPts val="440"/>
              </a:spcBef>
              <a:spcAft>
                <a:spcPts val="0"/>
              </a:spcAft>
              <a:buSzPts val="2090"/>
              <a:buNone/>
              <a:defRPr sz="22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153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112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91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910"/>
              <a:buNone/>
              <a:defRPr sz="1400">
                <a:solidFill>
                  <a:schemeClr val="lt1"/>
                </a:solidFill>
              </a:defRPr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457200" y="1920085"/>
            <a:ext cx="4038600" cy="4434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5445" algn="l">
              <a:spcBef>
                <a:spcPts val="520"/>
              </a:spcBef>
              <a:spcAft>
                <a:spcPts val="0"/>
              </a:spcAft>
              <a:buSzPts val="2470"/>
              <a:buChar char="⚫"/>
              <a:defRPr sz="2600"/>
            </a:lvl1pPr>
            <a:lvl2pPr marL="914400" lvl="1" indent="-358140" algn="l">
              <a:spcBef>
                <a:spcPts val="480"/>
              </a:spcBef>
              <a:spcAft>
                <a:spcPts val="0"/>
              </a:spcAft>
              <a:buSzPts val="2040"/>
              <a:buChar char="⚫"/>
              <a:defRPr sz="2400"/>
            </a:lvl2pPr>
            <a:lvl3pPr marL="1371600" lvl="2" indent="-317500" algn="l">
              <a:spcBef>
                <a:spcPts val="400"/>
              </a:spcBef>
              <a:spcAft>
                <a:spcPts val="0"/>
              </a:spcAft>
              <a:buSzPts val="1400"/>
              <a:buChar char="⚫"/>
              <a:defRPr sz="2000"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4pPr>
            <a:lvl5pPr marL="2286000" lvl="4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2"/>
          </p:nvPr>
        </p:nvSpPr>
        <p:spPr>
          <a:xfrm>
            <a:off x="4648200" y="1920085"/>
            <a:ext cx="4038600" cy="4434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5445" algn="l">
              <a:spcBef>
                <a:spcPts val="520"/>
              </a:spcBef>
              <a:spcAft>
                <a:spcPts val="0"/>
              </a:spcAft>
              <a:buSzPts val="2470"/>
              <a:buChar char="⚫"/>
              <a:defRPr sz="2600"/>
            </a:lvl1pPr>
            <a:lvl2pPr marL="914400" lvl="1" indent="-358140" algn="l">
              <a:spcBef>
                <a:spcPts val="480"/>
              </a:spcBef>
              <a:spcAft>
                <a:spcPts val="0"/>
              </a:spcAft>
              <a:buSzPts val="2040"/>
              <a:buChar char="⚫"/>
              <a:defRPr sz="2400"/>
            </a:lvl2pPr>
            <a:lvl3pPr marL="1371600" lvl="2" indent="-317500" algn="l">
              <a:spcBef>
                <a:spcPts val="400"/>
              </a:spcBef>
              <a:spcAft>
                <a:spcPts val="0"/>
              </a:spcAft>
              <a:buSzPts val="1400"/>
              <a:buChar char="⚫"/>
              <a:defRPr sz="2000"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4pPr>
            <a:lvl5pPr marL="2286000" lvl="4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280"/>
              <a:buNone/>
              <a:defRPr sz="2400" b="1" cap="none">
                <a:solidFill>
                  <a:schemeClr val="dk2"/>
                </a:solidFill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17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26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04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040"/>
              <a:buNone/>
              <a:defRPr sz="1600" b="1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2"/>
          </p:nvPr>
        </p:nvSpPr>
        <p:spPr>
          <a:xfrm>
            <a:off x="4645025" y="1859757"/>
            <a:ext cx="4041775" cy="65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280"/>
              <a:buNone/>
              <a:defRPr sz="2400" b="1" cap="none">
                <a:solidFill>
                  <a:schemeClr val="dk2"/>
                </a:solidFill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17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26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04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040"/>
              <a:buNone/>
              <a:defRPr sz="1600" b="1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3"/>
          </p:nvPr>
        </p:nvSpPr>
        <p:spPr>
          <a:xfrm>
            <a:off x="457200" y="2514600"/>
            <a:ext cx="4040188" cy="384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rmAutofit/>
          </a:bodyPr>
          <a:lstStyle>
            <a:lvl1pPr marL="457200" lvl="0" indent="-361315" algn="l">
              <a:spcBef>
                <a:spcPts val="440"/>
              </a:spcBef>
              <a:spcAft>
                <a:spcPts val="0"/>
              </a:spcAft>
              <a:buSzPts val="2090"/>
              <a:buChar char="⚫"/>
              <a:defRPr sz="2200"/>
            </a:lvl1pPr>
            <a:lvl2pPr marL="914400" lvl="1" indent="-336550" algn="l">
              <a:spcBef>
                <a:spcPts val="400"/>
              </a:spcBef>
              <a:spcAft>
                <a:spcPts val="0"/>
              </a:spcAft>
              <a:buSzPts val="1700"/>
              <a:buChar char="⚫"/>
              <a:defRPr sz="2000"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 sz="1800"/>
            </a:lvl3pPr>
            <a:lvl4pPr marL="1828800" lvl="3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4pPr>
            <a:lvl5pPr marL="2286000" lvl="4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4"/>
          </p:nvPr>
        </p:nvSpPr>
        <p:spPr>
          <a:xfrm>
            <a:off x="4645025" y="2514600"/>
            <a:ext cx="4041775" cy="384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rmAutofit/>
          </a:bodyPr>
          <a:lstStyle>
            <a:lvl1pPr marL="457200" lvl="0" indent="-361315" algn="l">
              <a:spcBef>
                <a:spcPts val="440"/>
              </a:spcBef>
              <a:spcAft>
                <a:spcPts val="0"/>
              </a:spcAft>
              <a:buSzPts val="2090"/>
              <a:buChar char="⚫"/>
              <a:defRPr sz="2200"/>
            </a:lvl1pPr>
            <a:lvl2pPr marL="914400" lvl="1" indent="-336550" algn="l">
              <a:spcBef>
                <a:spcPts val="400"/>
              </a:spcBef>
              <a:spcAft>
                <a:spcPts val="0"/>
              </a:spcAft>
              <a:buSzPts val="1700"/>
              <a:buChar char="⚫"/>
              <a:defRPr sz="2000"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 sz="1800"/>
            </a:lvl3pPr>
            <a:lvl4pPr marL="1828800" lvl="3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4pPr>
            <a:lvl5pPr marL="2286000" lvl="4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Calibri"/>
              <a:buNone/>
              <a:defRPr sz="5000" b="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Calibri"/>
              <a:buNone/>
              <a:defRPr sz="2600" b="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1"/>
          </p:nvPr>
        </p:nvSpPr>
        <p:spPr>
          <a:xfrm>
            <a:off x="685800" y="1676400"/>
            <a:ext cx="2743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45700" rIns="1827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33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02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7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585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585"/>
              <a:buNone/>
              <a:defRPr sz="9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2"/>
          </p:nvPr>
        </p:nvSpPr>
        <p:spPr>
          <a:xfrm>
            <a:off x="3575050" y="1676400"/>
            <a:ext cx="511175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rmAutofit/>
          </a:bodyPr>
          <a:lstStyle>
            <a:lvl1pPr marL="457200" lvl="0" indent="-397510" algn="l">
              <a:spcBef>
                <a:spcPts val="560"/>
              </a:spcBef>
              <a:spcAft>
                <a:spcPts val="0"/>
              </a:spcAft>
              <a:buSzPts val="2660"/>
              <a:buChar char="⚫"/>
              <a:defRPr sz="2800"/>
            </a:lvl1pPr>
            <a:lvl2pPr marL="914400" lvl="1" indent="-368935" algn="l">
              <a:spcBef>
                <a:spcPts val="520"/>
              </a:spcBef>
              <a:spcAft>
                <a:spcPts val="0"/>
              </a:spcAft>
              <a:buSzPts val="2210"/>
              <a:buChar char="⚫"/>
              <a:defRPr sz="2600"/>
            </a:lvl2pPr>
            <a:lvl3pPr marL="1371600" lvl="2" indent="-335280" algn="l">
              <a:spcBef>
                <a:spcPts val="480"/>
              </a:spcBef>
              <a:spcAft>
                <a:spcPts val="0"/>
              </a:spcAft>
              <a:buSzPts val="1680"/>
              <a:buChar char="⚫"/>
              <a:defRPr sz="2400"/>
            </a:lvl3pPr>
            <a:lvl4pPr marL="1828800" lvl="3" indent="-311150" algn="l">
              <a:spcBef>
                <a:spcPts val="400"/>
              </a:spcBef>
              <a:spcAft>
                <a:spcPts val="0"/>
              </a:spcAft>
              <a:buSzPts val="1300"/>
              <a:buChar char="⚫"/>
              <a:defRPr sz="2000"/>
            </a:lvl4pPr>
            <a:lvl5pPr marL="2286000" lvl="4" indent="-302895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캡션 있는 그림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/>
          <p:nvPr/>
        </p:nvSpPr>
        <p:spPr>
          <a:xfrm rot="-10380000" flipH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9525" cap="rnd" cmpd="sng">
            <a:solidFill>
              <a:srgbClr val="C0C0C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38500" dir="7500000" sx="98500" sy="100080" kx="100000" algn="tl" rotWithShape="0">
              <a:srgbClr val="000000">
                <a:alpha val="24705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68" name="Google Shape;68;p10"/>
          <p:cNvSpPr/>
          <p:nvPr/>
        </p:nvSpPr>
        <p:spPr>
          <a:xfrm rot="-10380000" flipH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bevel/>
            <a:headEnd type="none" w="sm" len="sm"/>
            <a:tailEnd type="none" w="sm" len="sm"/>
          </a:ln>
          <a:effectLst>
            <a:outerShdw blurRad="19685" dist="6350" dir="12900000" algn="tl" rotWithShape="0">
              <a:srgbClr val="000000">
                <a:alpha val="46666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body" idx="1"/>
          </p:nvPr>
        </p:nvSpPr>
        <p:spPr>
          <a:xfrm>
            <a:off x="609600" y="2828785"/>
            <a:ext cx="2209800" cy="2179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000" tIns="45700" rIns="45700" bIns="45700" anchor="t" anchorCtr="0">
            <a:normAutofit/>
          </a:bodyPr>
          <a:lstStyle>
            <a:lvl1pPr marL="457200" lvl="0" indent="-228600" algn="l">
              <a:spcBef>
                <a:spcPts val="250"/>
              </a:spcBef>
              <a:spcAft>
                <a:spcPts val="0"/>
              </a:spcAft>
              <a:buSzPts val="1235"/>
              <a:buFont typeface="Constantia"/>
              <a:buNone/>
              <a:defRPr sz="1300"/>
            </a:lvl1pPr>
            <a:lvl2pPr marL="914400" lvl="1" indent="-293369" algn="l">
              <a:spcBef>
                <a:spcPts val="240"/>
              </a:spcBef>
              <a:spcAft>
                <a:spcPts val="0"/>
              </a:spcAft>
              <a:buSzPts val="1020"/>
              <a:buChar char="⚫"/>
              <a:defRPr sz="1200"/>
            </a:lvl2pPr>
            <a:lvl3pPr marL="1371600" lvl="2" indent="-273050" algn="l">
              <a:spcBef>
                <a:spcPts val="200"/>
              </a:spcBef>
              <a:spcAft>
                <a:spcPts val="0"/>
              </a:spcAft>
              <a:buSzPts val="700"/>
              <a:buChar char="⚫"/>
              <a:defRPr sz="1000"/>
            </a:lvl3pPr>
            <a:lvl4pPr marL="1828800" lvl="3" indent="-265747" algn="l">
              <a:spcBef>
                <a:spcPts val="180"/>
              </a:spcBef>
              <a:spcAft>
                <a:spcPts val="0"/>
              </a:spcAft>
              <a:buSzPts val="585"/>
              <a:buChar char="⚫"/>
              <a:defRPr sz="900"/>
            </a:lvl4pPr>
            <a:lvl5pPr marL="2286000" lvl="4" indent="-265747" algn="l">
              <a:spcBef>
                <a:spcPts val="180"/>
              </a:spcBef>
              <a:spcAft>
                <a:spcPts val="0"/>
              </a:spcAft>
              <a:buSzPts val="585"/>
              <a:buChar char="⚫"/>
              <a:defRPr sz="9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sldNum" idx="12"/>
          </p:nvPr>
        </p:nvSpPr>
        <p:spPr>
          <a:xfrm>
            <a:off x="8077200" y="6356350"/>
            <a:ext cx="609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10"/>
          <p:cNvSpPr>
            <a:spLocks noGrp="1"/>
          </p:cNvSpPr>
          <p:nvPr>
            <p:ph type="pic" idx="2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lt2"/>
          </a:solidFill>
          <a:ln w="9525" cap="rnd" cmpd="sng">
            <a:solidFill>
              <a:srgbClr val="C0C0C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p10"/>
          <p:cNvSpPr/>
          <p:nvPr/>
        </p:nvSpPr>
        <p:spPr>
          <a:xfrm rot="10800000" flipH="1">
            <a:off x="-9525" y="5816600"/>
            <a:ext cx="9163050" cy="1041400"/>
          </a:xfrm>
          <a:custGeom>
            <a:avLst/>
            <a:gdLst/>
            <a:ahLst/>
            <a:cxnLst/>
            <a:rect l="l" t="t" r="r" b="b"/>
            <a:pathLst>
              <a:path w="5772" h="656" extrusionOk="0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76" name="Google Shape;76;p10"/>
          <p:cNvSpPr/>
          <p:nvPr/>
        </p:nvSpPr>
        <p:spPr>
          <a:xfrm rot="10800000" flipH="1">
            <a:off x="4381500" y="6219825"/>
            <a:ext cx="4762500" cy="638175"/>
          </a:xfrm>
          <a:custGeom>
            <a:avLst/>
            <a:gdLst/>
            <a:ahLst/>
            <a:cxnLst/>
            <a:rect l="l" t="t" r="r" b="b"/>
            <a:pathLst>
              <a:path w="3000" h="595" extrusionOk="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body" idx="1"/>
          </p:nvPr>
        </p:nvSpPr>
        <p:spPr>
          <a:xfrm rot="5400000">
            <a:off x="2377440" y="15240"/>
            <a:ext cx="438912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7185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marL="914400" lvl="1" indent="-325755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marL="2286000" lvl="4" indent="-302895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2"/>
          <p:cNvSpPr txBox="1">
            <a:spLocks noGrp="1"/>
          </p:cNvSpPr>
          <p:nvPr>
            <p:ph type="title"/>
          </p:nvPr>
        </p:nvSpPr>
        <p:spPr>
          <a:xfrm rot="5400000">
            <a:off x="5052219" y="2491582"/>
            <a:ext cx="5211763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body" idx="1"/>
          </p:nvPr>
        </p:nvSpPr>
        <p:spPr>
          <a:xfrm rot="5400000">
            <a:off x="861219" y="510382"/>
            <a:ext cx="5211763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7185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marL="914400" lvl="1" indent="-325755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marL="2286000" lvl="4" indent="-302895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2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8275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4CE0EA"/>
              </a:buClr>
              <a:buSzPts val="5600"/>
              <a:buFont typeface="Calibri"/>
              <a:buNone/>
              <a:defRPr sz="5600" b="1">
                <a:solidFill>
                  <a:srgbClr val="4CE0EA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4"/>
          <p:cNvSpPr txBox="1"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rmAutofit/>
          </a:bodyPr>
          <a:lstStyle>
            <a:lvl1pPr marR="45720" lvl="0" algn="r">
              <a:spcBef>
                <a:spcPts val="520"/>
              </a:spcBef>
              <a:spcAft>
                <a:spcPts val="0"/>
              </a:spcAft>
              <a:buSzPts val="247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360"/>
              </a:spcBef>
              <a:spcAft>
                <a:spcPts val="0"/>
              </a:spcAft>
              <a:buSzPts val="153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5pPr>
            <a:lvl6pPr lvl="5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6pPr>
            <a:lvl7pPr lvl="6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7pPr>
            <a:lvl8pPr lvl="7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4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4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3">
            <a:alphaModFix/>
          </a:blip>
          <a:tile tx="0" ty="0" sx="65000" sy="65000" flip="none" algn="tl"/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-9525" y="-7144"/>
            <a:ext cx="9163050" cy="1041400"/>
          </a:xfrm>
          <a:custGeom>
            <a:avLst/>
            <a:gdLst/>
            <a:ahLst/>
            <a:cxnLst/>
            <a:rect l="l" t="t" r="r" b="b"/>
            <a:pathLst>
              <a:path w="5772" h="656" extrusionOk="0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7" name="Google Shape;7;p1"/>
          <p:cNvSpPr/>
          <p:nvPr/>
        </p:nvSpPr>
        <p:spPr>
          <a:xfrm>
            <a:off x="4381500" y="-7144"/>
            <a:ext cx="4762500" cy="638175"/>
          </a:xfrm>
          <a:custGeom>
            <a:avLst/>
            <a:gdLst/>
            <a:ahLst/>
            <a:cxnLst/>
            <a:rect l="l" t="t" r="r" b="b"/>
            <a:pathLst>
              <a:path w="3000" h="595" extrusionOk="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  <a:defRPr sz="4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5445" algn="l" rtl="0">
              <a:spcBef>
                <a:spcPts val="520"/>
              </a:spcBef>
              <a:spcAft>
                <a:spcPts val="0"/>
              </a:spcAft>
              <a:buClr>
                <a:schemeClr val="accent3"/>
              </a:buClr>
              <a:buSzPts val="2470"/>
              <a:buFont typeface="Noto Sans Symbols"/>
              <a:buChar char="⚫"/>
              <a:defRPr sz="26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L="914400" marR="0" lvl="1" indent="-358140" algn="l" rtl="0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040"/>
              <a:buFont typeface="Noto Sans Symbols"/>
              <a:buChar char="⚫"/>
              <a:defRPr sz="24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L="1371600" marR="0" lvl="2" indent="-321944" algn="l" rtl="0">
              <a:spcBef>
                <a:spcPts val="420"/>
              </a:spcBef>
              <a:spcAft>
                <a:spcPts val="0"/>
              </a:spcAft>
              <a:buClr>
                <a:schemeClr val="accent2"/>
              </a:buClr>
              <a:buSzPts val="1470"/>
              <a:buFont typeface="Noto Sans Symbols"/>
              <a:buChar char="⚫"/>
              <a:defRPr sz="21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L="1828800" marR="0" lvl="3" indent="-302894" algn="l" rtl="0"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170"/>
              <a:buFont typeface="Noto Sans Symbols"/>
              <a:buChar char="⚫"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L="2286000" marR="0" lvl="4" indent="-294639" algn="l" rtl="0">
              <a:spcBef>
                <a:spcPts val="320"/>
              </a:spcBef>
              <a:spcAft>
                <a:spcPts val="0"/>
              </a:spcAft>
              <a:buClr>
                <a:schemeClr val="accent4"/>
              </a:buClr>
              <a:buSzPts val="1040"/>
              <a:buFont typeface="Noto Sans Symbols"/>
              <a:buChar char="⚫"/>
              <a:defRPr sz="16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L="2743200" marR="0" lvl="5" indent="-320039" algn="l" rtl="0"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L="3200400" marR="0" lvl="6" indent="-309879" algn="l" rtl="0"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sz="16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onstantia"/>
              <a:buChar char="•"/>
              <a:defRPr sz="16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L="4114800" marR="0" lvl="8" indent="-317500" algn="l" rtl="0">
              <a:spcBef>
                <a:spcPts val="28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onstantia"/>
              <a:buChar char="•"/>
              <a:defRPr sz="14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3" name="Google Shape;13;p1"/>
          <p:cNvGrpSpPr/>
          <p:nvPr/>
        </p:nvGrpSpPr>
        <p:grpSpPr>
          <a:xfrm>
            <a:off x="-29294" y="-16113"/>
            <a:ext cx="9198255" cy="1086266"/>
            <a:chOff x="-29322" y="-1971"/>
            <a:chExt cx="9198255" cy="1086266"/>
          </a:xfrm>
        </p:grpSpPr>
        <p:sp>
          <p:nvSpPr>
            <p:cNvPr id="14" name="Google Shape;14;p1"/>
            <p:cNvSpPr/>
            <p:nvPr/>
          </p:nvSpPr>
          <p:spPr>
            <a:xfrm rot="-164308">
              <a:off x="-19045" y="216550"/>
              <a:ext cx="9163050" cy="649224"/>
            </a:xfrm>
            <a:custGeom>
              <a:avLst/>
              <a:gdLst/>
              <a:ahLst/>
              <a:cxnLst/>
              <a:rect l="l" t="t" r="r" b="b"/>
              <a:pathLst>
                <a:path w="5772" h="1055" extrusionOk="0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75" cap="flat" cmpd="sng">
              <a:solidFill>
                <a:srgbClr val="09B6B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  <p:sp>
          <p:nvSpPr>
            <p:cNvPr id="15" name="Google Shape;15;p1"/>
            <p:cNvSpPr/>
            <p:nvPr/>
          </p:nvSpPr>
          <p:spPr>
            <a:xfrm rot="-164308">
              <a:off x="-14309" y="290003"/>
              <a:ext cx="9175812" cy="530352"/>
            </a:xfrm>
            <a:custGeom>
              <a:avLst/>
              <a:gdLst/>
              <a:ahLst/>
              <a:cxnLst/>
              <a:rect l="l" t="t" r="r" b="b"/>
              <a:pathLst>
                <a:path w="5766" h="854" extrusionOk="0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alphaModFix/>
          </a:blip>
          <a:tile tx="0" ty="0" sx="65000" sy="65000" flip="none" algn="tl"/>
        </a:blip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/>
          <p:nvPr/>
        </p:nvSpPr>
        <p:spPr>
          <a:xfrm>
            <a:off x="-9525" y="-7144"/>
            <a:ext cx="9163050" cy="1041400"/>
          </a:xfrm>
          <a:custGeom>
            <a:avLst/>
            <a:gdLst/>
            <a:ahLst/>
            <a:cxnLst/>
            <a:rect l="l" t="t" r="r" b="b"/>
            <a:pathLst>
              <a:path w="5772" h="656" extrusionOk="0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4381500" y="-7144"/>
            <a:ext cx="4762500" cy="638175"/>
          </a:xfrm>
          <a:custGeom>
            <a:avLst/>
            <a:gdLst/>
            <a:ahLst/>
            <a:cxnLst/>
            <a:rect l="l" t="t" r="r" b="b"/>
            <a:pathLst>
              <a:path w="3000" h="595" extrusionOk="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alibri"/>
              <a:buNone/>
              <a:defRPr sz="40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5445" algn="l" rtl="0">
              <a:spcBef>
                <a:spcPts val="520"/>
              </a:spcBef>
              <a:spcAft>
                <a:spcPts val="0"/>
              </a:spcAft>
              <a:buClr>
                <a:schemeClr val="accent3"/>
              </a:buClr>
              <a:buSzPts val="2470"/>
              <a:buFont typeface="Noto Sans Symbols"/>
              <a:buChar char="⚫"/>
              <a:defRPr sz="26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L="914400" marR="0" lvl="1" indent="-358140" algn="l" rtl="0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040"/>
              <a:buFont typeface="Noto Sans Symbols"/>
              <a:buChar char="⚫"/>
              <a:defRPr sz="24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L="1371600" marR="0" lvl="2" indent="-321944" algn="l" rtl="0">
              <a:spcBef>
                <a:spcPts val="420"/>
              </a:spcBef>
              <a:spcAft>
                <a:spcPts val="0"/>
              </a:spcAft>
              <a:buClr>
                <a:schemeClr val="accent2"/>
              </a:buClr>
              <a:buSzPts val="1470"/>
              <a:buFont typeface="Noto Sans Symbols"/>
              <a:buChar char="⚫"/>
              <a:defRPr sz="21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L="1828800" marR="0" lvl="3" indent="-302894" algn="l" rtl="0"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170"/>
              <a:buFont typeface="Noto Sans Symbols"/>
              <a:buChar char="⚫"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L="2286000" marR="0" lvl="4" indent="-294639" algn="l" rtl="0">
              <a:spcBef>
                <a:spcPts val="320"/>
              </a:spcBef>
              <a:spcAft>
                <a:spcPts val="0"/>
              </a:spcAft>
              <a:buClr>
                <a:schemeClr val="accent4"/>
              </a:buClr>
              <a:buSzPts val="1040"/>
              <a:buFont typeface="Noto Sans Symbols"/>
              <a:buChar char="⚫"/>
              <a:defRPr sz="16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L="2743200" marR="0" lvl="5" indent="-320039" algn="l" rtl="0"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L="3200400" marR="0" lvl="6" indent="-309879" algn="l" rtl="0"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sz="16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Constantia"/>
              <a:buChar char="•"/>
              <a:defRPr sz="16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L="4114800" marR="0" lvl="8" indent="-317500" algn="l" rtl="0">
              <a:spcBef>
                <a:spcPts val="28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Constantia"/>
              <a:buChar char="•"/>
              <a:defRPr sz="14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96" name="Google Shape;96;p13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97" name="Google Shape;97;p13"/>
          <p:cNvGrpSpPr/>
          <p:nvPr/>
        </p:nvGrpSpPr>
        <p:grpSpPr>
          <a:xfrm>
            <a:off x="-29294" y="-16113"/>
            <a:ext cx="9198255" cy="1086266"/>
            <a:chOff x="-29322" y="-1971"/>
            <a:chExt cx="9198255" cy="1086266"/>
          </a:xfrm>
        </p:grpSpPr>
        <p:sp>
          <p:nvSpPr>
            <p:cNvPr id="98" name="Google Shape;98;p13"/>
            <p:cNvSpPr/>
            <p:nvPr/>
          </p:nvSpPr>
          <p:spPr>
            <a:xfrm rot="-164308">
              <a:off x="-19045" y="216550"/>
              <a:ext cx="9163050" cy="649224"/>
            </a:xfrm>
            <a:custGeom>
              <a:avLst/>
              <a:gdLst/>
              <a:ahLst/>
              <a:cxnLst/>
              <a:rect l="l" t="t" r="r" b="b"/>
              <a:pathLst>
                <a:path w="5772" h="1055" extrusionOk="0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75" cap="flat" cmpd="sng">
              <a:solidFill>
                <a:srgbClr val="09B6B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  <p:sp>
          <p:nvSpPr>
            <p:cNvPr id="99" name="Google Shape;99;p13"/>
            <p:cNvSpPr/>
            <p:nvPr/>
          </p:nvSpPr>
          <p:spPr>
            <a:xfrm rot="-164308">
              <a:off x="-14309" y="290003"/>
              <a:ext cx="9175812" cy="530352"/>
            </a:xfrm>
            <a:custGeom>
              <a:avLst/>
              <a:gdLst/>
              <a:ahLst/>
              <a:cxnLst/>
              <a:rect l="l" t="t" r="r" b="b"/>
              <a:pathLst>
                <a:path w="5766" h="854" extrusionOk="0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6"/>
          <p:cNvSpPr txBox="1"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8275" bIns="0" anchor="b" anchorCtr="0">
            <a:normAutofit/>
          </a:bodyPr>
          <a:lstStyle/>
          <a:p>
            <a:r>
              <a:t>FitPulse Description</a:t>
            </a:r>
          </a:p>
        </p:txBody>
      </p:sp>
      <p:sp>
        <p:nvSpPr>
          <p:cNvPr id="117" name="Google Shape;117;p16"/>
          <p:cNvSpPr txBox="1"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rmAutofit/>
          </a:bodyPr>
          <a:lstStyle/>
          <a:p>
            <a:r>
              <a:t>Your Company Name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Revision History</a:t>
            </a:r>
          </a:p>
        </p:txBody>
      </p:sp>
      <p:graphicFrame>
        <p:nvGraphicFramePr>
          <p:cNvPr id="123" name="Google Shape;123;p17"/>
          <p:cNvGraphicFramePr/>
          <p:nvPr/>
        </p:nvGraphicFramePr>
        <p:xfrm>
          <a:off x="457200" y="193516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{25375610-7600-4973-BF82-191DA6F836F1}</a:tableStyleId>
              </a:tblPr>
              <a:tblGrid>
                <a:gridCol w="109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r>
                        <a:rPr sz="1200" b="1"/>
                        <a:t>Version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1"/>
                        <a:t>Date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1"/>
                        <a:t>Description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1"/>
                        <a:t>Author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r>
                        <a:rPr sz="1200" b="0"/>
                        <a:t>1.0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0"/>
                        <a:t>March 19, 2026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0"/>
                        <a:t>Initial Samsung TV Seller Office UI description for FitPulse.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0"/>
                        <a:t>Your Company Name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Contents</a:t>
            </a:r>
          </a:p>
        </p:txBody>
      </p:sp>
      <p:sp>
        <p:nvSpPr>
          <p:cNvPr id="129" name="Google Shape;129;p18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2400" b="0">
                <a:solidFill>
                  <a:srgbClr val="222222"/>
                </a:solidFill>
              </a:rPr>
              <a:t>UI Structure</a:t>
            </a:r>
            <a:endParaRPr/>
          </a:p>
          <a:p>
            <a:r>
              <a:rPr sz="2400" b="0">
                <a:solidFill>
                  <a:srgbClr val="222222"/>
                </a:solidFill>
              </a:rPr>
              <a:t>Usage Scenario</a:t>
            </a:r>
          </a:p>
          <a:p>
            <a:r>
              <a:rPr sz="2400" b="0">
                <a:solidFill>
                  <a:srgbClr val="222222"/>
                </a:solidFill>
              </a:rPr>
              <a:t>Menu &amp; Function Description</a:t>
            </a:r>
          </a:p>
          <a:p>
            <a:r>
              <a:rPr sz="2400" b="0">
                <a:solidFill>
                  <a:srgbClr val="222222"/>
                </a:solidFill>
              </a:rPr>
              <a:t>Key Policy</a:t>
            </a:r>
          </a:p>
          <a:p>
            <a:r>
              <a:rPr sz="2400" b="0">
                <a:solidFill>
                  <a:srgbClr val="222222"/>
                </a:solidFill>
              </a:rPr>
              <a:t>Additional Notes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UI Structure</a:t>
            </a:r>
          </a:p>
        </p:txBody>
      </p:sp>
      <p:sp>
        <p:nvSpPr>
          <p:cNvPr id="135" name="Google Shape;135;p19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Whole UI Structure</a:t>
            </a:r>
            <a:endParaRPr/>
          </a:p>
          <a:p>
            <a:endParaRPr/>
          </a:p>
          <a:p>
            <a:r>
              <a:rPr sz="1800" b="0">
                <a:solidFill>
                  <a:srgbClr val="222222"/>
                </a:solidFill>
              </a:rPr>
              <a:t>FitPulse is a Samsung TV fitness application for browsing workouts,</a:t>
            </a:r>
          </a:p>
          <a:p>
            <a:r>
              <a:rPr sz="1800" b="0">
                <a:solidFill>
                  <a:srgbClr val="222222"/>
                </a:solidFill>
              </a:rPr>
              <a:t>opening guided training plans, and starting remote-friendly workout sessions.</a:t>
            </a:r>
          </a:p>
          <a:p>
            <a:r>
              <a:rPr sz="1800" b="0">
                <a:solidFill>
                  <a:srgbClr val="222222"/>
                </a:solidFill>
              </a:rPr>
              <a:t>Only currently available user flows are described in this document.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Primary user flow:</a:t>
            </a:r>
          </a:p>
          <a:p>
            <a:r>
              <a:rPr sz="1800" b="0">
                <a:solidFill>
                  <a:srgbClr val="222222"/>
                </a:solidFill>
              </a:rPr>
              <a:t>Welcome -&gt; Profile Ready -&gt; Home</a:t>
            </a:r>
          </a:p>
          <a:p>
            <a:r>
              <a:rPr sz="1800" b="0">
                <a:solidFill>
                  <a:srgbClr val="222222"/>
                </a:solidFill>
              </a:rPr>
              <a:t>Home -&gt; Classic -&gt; Plan Calendar -&gt; Day Detail -&gt; Workout Player</a:t>
            </a:r>
          </a:p>
          <a:p>
            <a:r>
              <a:rPr sz="1800" b="0">
                <a:solidFill>
                  <a:srgbClr val="222222"/>
                </a:solidFill>
              </a:rPr>
              <a:t>Home / Me -&gt; History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Main screens in the current release:</a:t>
            </a:r>
          </a:p>
          <a:p>
            <a:r>
              <a:rPr sz="1800" b="0">
                <a:solidFill>
                  <a:srgbClr val="222222"/>
                </a:solidFill>
              </a:rPr>
              <a:t>- Home dashboard</a:t>
            </a:r>
          </a:p>
          <a:p>
            <a:r>
              <a:rPr sz="1800" b="0">
                <a:solidFill>
                  <a:srgbClr val="222222"/>
                </a:solidFill>
              </a:rPr>
              <a:t>- Library by body part</a:t>
            </a:r>
          </a:p>
          <a:p>
            <a:r>
              <a:rPr sz="1800" b="0">
                <a:solidFill>
                  <a:srgbClr val="222222"/>
                </a:solidFill>
              </a:rPr>
              <a:t>- Classic programs</a:t>
            </a:r>
          </a:p>
          <a:p>
            <a:r>
              <a:rPr sz="1800" b="0">
                <a:solidFill>
                  <a:srgbClr val="222222"/>
                </a:solidFill>
              </a:rPr>
              <a:t>- Plan calendar and day detail</a:t>
            </a:r>
          </a:p>
          <a:p>
            <a:r>
              <a:rPr sz="1800" b="0">
                <a:solidFill>
                  <a:srgbClr val="222222"/>
                </a:solidFill>
              </a:rPr>
              <a:t>- Workout player and completion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UI Structure - Flow Graph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914400" y="1280160"/>
            <a:ext cx="146304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Welcome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514600" y="1325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926080" y="1280160"/>
            <a:ext cx="169164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Home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709160" y="1325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166360" y="1280160"/>
            <a:ext cx="164592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Library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11880" y="2011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743200" y="2423160"/>
            <a:ext cx="2103120" cy="621792"/>
          </a:xfrm>
          <a:prstGeom prst="roundRect">
            <a:avLst/>
          </a:prstGeom>
          <a:solidFill>
            <a:srgbClr val="E08A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Classic Programs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657600" y="3154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606040" y="3566160"/>
            <a:ext cx="2377440" cy="621792"/>
          </a:xfrm>
          <a:prstGeom prst="roundRect">
            <a:avLst/>
          </a:prstGeom>
          <a:solidFill>
            <a:srgbClr val="E08A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Plan Calendar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657600" y="4297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743200" y="4663440"/>
            <a:ext cx="2103120" cy="621792"/>
          </a:xfrm>
          <a:prstGeom prst="roundRect">
            <a:avLst/>
          </a:prstGeom>
          <a:solidFill>
            <a:srgbClr val="B94E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Day Detail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074920" y="4754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532120" y="4663440"/>
            <a:ext cx="1828800" cy="621792"/>
          </a:xfrm>
          <a:prstGeom prst="roundRect">
            <a:avLst/>
          </a:prstGeom>
          <a:solidFill>
            <a:srgbClr val="B94E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Workout Player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1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UI Structure - Depth Navigation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1645920"/>
            <a:ext cx="66751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222222"/>
                </a:solidFill>
              </a:rPr>
              <a:t>Depth 1 : Welcome, Profile Ready, Home, Library, Classic, Me</a:t>
            </a:r>
          </a:p>
          <a:p>
            <a:r>
              <a:rPr sz="2000" b="0">
                <a:solidFill>
                  <a:srgbClr val="222222"/>
                </a:solidFill>
              </a:rPr>
              <a:t>Depth 2 : History, Plan Calendar, Day Detail</a:t>
            </a:r>
          </a:p>
          <a:p>
            <a:r>
              <a:rPr sz="2000" b="0">
                <a:solidFill>
                  <a:srgbClr val="222222"/>
                </a:solidFill>
              </a:rPr>
              <a:t>Depth 3 : Get Ready, Workout Player, Rest, Workout Complete</a:t>
            </a:r>
          </a:p>
          <a:p>
            <a:endParaRPr sz="2000" b="0">
              <a:solidFill>
                <a:srgbClr val="222222"/>
              </a:solidFill>
            </a:endParaRPr>
          </a:p>
          <a:p>
            <a:r>
              <a:rPr sz="2000" b="0">
                <a:solidFill>
                  <a:srgbClr val="222222"/>
                </a:solidFill>
              </a:rPr>
              <a:t>Global UI elements:</a:t>
            </a:r>
          </a:p>
          <a:p>
            <a:r>
              <a:rPr sz="2000" b="0">
                <a:solidFill>
                  <a:srgbClr val="222222"/>
                </a:solidFill>
              </a:rPr>
              <a:t>- Sidebar navigation on main browsing screens</a:t>
            </a:r>
          </a:p>
          <a:p>
            <a:r>
              <a:rPr sz="2000" b="0">
                <a:solidFill>
                  <a:srgbClr val="222222"/>
                </a:solidFill>
              </a:rPr>
              <a:t>- Directional focus highlight</a:t>
            </a:r>
          </a:p>
          <a:p>
            <a:endParaRPr sz="2000" b="0">
              <a:solidFill>
                <a:srgbClr val="222222"/>
              </a:solidFill>
            </a:endParaRPr>
          </a:p>
          <a:p>
            <a:r>
              <a:rPr sz="2000" b="0">
                <a:solidFill>
                  <a:srgbClr val="222222"/>
                </a:solidFill>
              </a:rPr>
              <a:t>Contextual UI elements:</a:t>
            </a:r>
          </a:p>
          <a:p>
            <a:r>
              <a:rPr sz="2000" b="0">
                <a:solidFill>
                  <a:srgbClr val="222222"/>
                </a:solidFill>
              </a:rPr>
              <a:t>- Workout plan cards</a:t>
            </a:r>
          </a:p>
          <a:p>
            <a:r>
              <a:rPr sz="2000" b="0">
                <a:solidFill>
                  <a:srgbClr val="222222"/>
                </a:solidFill>
              </a:rPr>
              <a:t>- Day grid in the plan calendar</a:t>
            </a:r>
          </a:p>
          <a:p>
            <a:r>
              <a:rPr sz="2000" b="0">
                <a:solidFill>
                  <a:srgbClr val="222222"/>
                </a:solidFill>
              </a:rPr>
              <a:t>- Start button on day detail page</a:t>
            </a:r>
          </a:p>
          <a:p>
            <a:r>
              <a:rPr sz="2000" b="0">
                <a:solidFill>
                  <a:srgbClr val="222222"/>
                </a:solidFill>
              </a:rPr>
              <a:t>- Timer and action button in workout flow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2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Usage Scenario</a:t>
            </a:r>
          </a:p>
        </p:txBody>
      </p:sp>
      <p:sp>
        <p:nvSpPr>
          <p:cNvPr id="181" name="Google Shape;181;p22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Use Case 1: Browse a workout plan and start a guided session.</a:t>
            </a:r>
            <a:endParaRPr/>
          </a:p>
          <a:p>
            <a:endParaRPr/>
          </a:p>
          <a:p>
            <a:r>
              <a:rPr sz="1800" b="0">
                <a:solidFill>
                  <a:srgbClr val="222222"/>
                </a:solidFill>
              </a:rPr>
              <a:t>1. Launch the app and go to the Home screen.</a:t>
            </a:r>
          </a:p>
          <a:p>
            <a:r>
              <a:rPr sz="1800" b="0">
                <a:solidFill>
                  <a:srgbClr val="222222"/>
                </a:solidFill>
              </a:rPr>
              <a:t>2. Open Library or Classic Programs with the remote.</a:t>
            </a:r>
          </a:p>
          <a:p>
            <a:r>
              <a:rPr sz="1800" b="0">
                <a:solidFill>
                  <a:srgbClr val="222222"/>
                </a:solidFill>
              </a:rPr>
              <a:t>3. Select a workout plan from Classic Programs.</a:t>
            </a:r>
          </a:p>
          <a:p>
            <a:r>
              <a:rPr sz="1800" b="0">
                <a:solidFill>
                  <a:srgbClr val="222222"/>
                </a:solidFill>
              </a:rPr>
              <a:t>4. Choose an available day from the plan calendar.</a:t>
            </a:r>
          </a:p>
          <a:p>
            <a:r>
              <a:rPr sz="1800" b="0">
                <a:solidFill>
                  <a:srgbClr val="222222"/>
                </a:solidFill>
              </a:rPr>
              <a:t>5. Review the workout summary on the Day Detail screen.</a:t>
            </a:r>
          </a:p>
          <a:p>
            <a:r>
              <a:rPr sz="1800" b="0">
                <a:solidFill>
                  <a:srgbClr val="222222"/>
                </a:solidFill>
              </a:rPr>
              <a:t>6. Start the workout and continue through the workout player flow.</a:t>
            </a:r>
          </a:p>
          <a:p>
            <a:r>
              <a:rPr sz="1800" b="0">
                <a:solidFill>
                  <a:srgbClr val="222222"/>
                </a:solidFill>
              </a:rPr>
              <a:t>7. Return to previous screens with the Back key.</a:t>
            </a:r>
          </a:p>
          <a:p>
            <a:r>
              <a:rPr sz="1800" b="0">
                <a:solidFill>
                  <a:srgbClr val="222222"/>
                </a:solidFill>
              </a:rPr>
              <a:t>8. Exit application from home screen with confirmation dialog.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No account sign-in, activation, or purchase is required in the current release.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3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Usage Scenario</a:t>
            </a:r>
          </a:p>
        </p:txBody>
      </p:sp>
      <p:sp>
        <p:nvSpPr>
          <p:cNvPr id="187" name="Google Shape;187;p23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280"/>
              <a:buChar char="⚫"/>
            </a:pPr>
            <a:r>
              <a:rPr sz="1800" b="0">
                <a:solidFill>
                  <a:srgbClr val="222222"/>
                </a:solidFill>
              </a:rPr>
              <a:t>Use Case Title: Browse and start a workout session</a:t>
            </a:r>
            <a:endParaRPr sz="2400" i="1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Path: Home -&gt; Classic -&gt; Plan Calendar -&gt; Day Detail -&gt; Workout Player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Supporting notes:</a:t>
            </a:r>
          </a:p>
          <a:p>
            <a:r>
              <a:rPr sz="1800" b="0">
                <a:solidFill>
                  <a:srgbClr val="222222"/>
                </a:solidFill>
              </a:rPr>
              <a:t>- Users can also browse workouts from Library.</a:t>
            </a:r>
          </a:p>
          <a:p>
            <a:r>
              <a:rPr sz="1800" b="0">
                <a:solidFill>
                  <a:srgbClr val="222222"/>
                </a:solidFill>
              </a:rPr>
              <a:t>- The TV remote is used for directional focus navigation.</a:t>
            </a:r>
          </a:p>
          <a:p>
            <a:r>
              <a:rPr sz="1800" b="0">
                <a:solidFill>
                  <a:srgbClr val="222222"/>
                </a:solidFill>
              </a:rPr>
              <a:t>- The completion summary appears after the guided workout flow.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No account login is required.</a:t>
            </a:r>
          </a:p>
          <a:p>
            <a:r>
              <a:rPr sz="1800" b="0">
                <a:solidFill>
                  <a:srgbClr val="222222"/>
                </a:solidFill>
              </a:rPr>
              <a:t>No in-app purchase is required.</a:t>
            </a:r>
          </a:p>
        </p:txBody>
      </p:sp>
      <p:pic>
        <p:nvPicPr>
          <p:cNvPr id="188" name="Picture 187" descr="10-usage-scenario-coll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27" y="2928934"/>
            <a:ext cx="6873159" cy="39290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>
          <a:extLst>
            <a:ext uri="{FF2B5EF4-FFF2-40B4-BE49-F238E27FC236}">
              <a16:creationId xmlns:a16="http://schemas.microsoft.com/office/drawing/2014/main" id="{CA8F374A-751C-8E21-77C5-2FBC29F40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187" descr="10-usage-scenario-collage.jpg">
            <a:extLst>
              <a:ext uri="{FF2B5EF4-FFF2-40B4-BE49-F238E27FC236}">
                <a16:creationId xmlns:a16="http://schemas.microsoft.com/office/drawing/2014/main" id="{CA49D48E-6B22-7FBA-39EA-51B56691CB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04" y="1741892"/>
            <a:ext cx="6873159" cy="3929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746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4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Menu &amp; Function Description</a:t>
            </a:r>
          </a:p>
        </p:txBody>
      </p:sp>
      <p:sp>
        <p:nvSpPr>
          <p:cNvPr id="194" name="Google Shape;194;p24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Screen descriptions in the current release:</a:t>
            </a:r>
            <a:endParaRPr i="1">
              <a:solidFill>
                <a:srgbClr val="54A838"/>
              </a:solidFill>
            </a:endParaRPr>
          </a:p>
          <a:p>
            <a:endParaRPr i="1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Home: weekly activity, resume card, and recommended workouts.</a:t>
            </a:r>
          </a:p>
          <a:p>
            <a:r>
              <a:rPr sz="1800" b="0">
                <a:solidFill>
                  <a:srgbClr val="222222"/>
                </a:solidFill>
              </a:rPr>
              <a:t>Library: body-part filter chips and workout cards.</a:t>
            </a:r>
          </a:p>
          <a:p>
            <a:r>
              <a:rPr sz="1800" b="0">
                <a:solidFill>
                  <a:srgbClr val="222222"/>
                </a:solidFill>
              </a:rPr>
              <a:t>Classic Programs: structured plan cards for long-form training.</a:t>
            </a:r>
          </a:p>
          <a:p>
            <a:r>
              <a:rPr sz="1800" b="0">
                <a:solidFill>
                  <a:srgbClr val="222222"/>
                </a:solidFill>
              </a:rPr>
              <a:t>Plan Calendar: day selection for a multi-day workout plan.</a:t>
            </a:r>
          </a:p>
          <a:p>
            <a:r>
              <a:rPr sz="1800" b="0">
                <a:solidFill>
                  <a:srgbClr val="222222"/>
                </a:solidFill>
              </a:rPr>
              <a:t>History: previous completed sessions.</a:t>
            </a:r>
          </a:p>
          <a:p>
            <a:r>
              <a:rPr sz="1800" b="0">
                <a:solidFill>
                  <a:srgbClr val="222222"/>
                </a:solidFill>
              </a:rPr>
              <a:t>Exit Confirmation: exit dialog displayed when pressing back on home screen.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Only currently implemented screens and functions are described in this document.</a:t>
            </a:r>
          </a:p>
        </p:txBody>
      </p:sp>
      <p:pic>
        <p:nvPicPr>
          <p:cNvPr id="195" name="Picture 194" descr="11-menu-function-coll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44" y="2471236"/>
            <a:ext cx="8064896" cy="36724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>
          <a:extLst>
            <a:ext uri="{FF2B5EF4-FFF2-40B4-BE49-F238E27FC236}">
              <a16:creationId xmlns:a16="http://schemas.microsoft.com/office/drawing/2014/main" id="{B4B96275-61D0-0DA9-A8AB-AA5493995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Picture 194" descr="11-menu-function-collage.jpg">
            <a:extLst>
              <a:ext uri="{FF2B5EF4-FFF2-40B4-BE49-F238E27FC236}">
                <a16:creationId xmlns:a16="http://schemas.microsoft.com/office/drawing/2014/main" id="{C2493752-42B2-A17C-BE96-A29B49C3F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157" y="1938535"/>
            <a:ext cx="8064896" cy="36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498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5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Key Policy</a:t>
            </a:r>
          </a:p>
        </p:txBody>
      </p:sp>
      <p:sp>
        <p:nvSpPr>
          <p:cNvPr id="201" name="Google Shape;201;p25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090"/>
              <a:buChar char="⚫"/>
            </a:pPr>
            <a:r>
              <a:rPr sz="1800" b="0">
                <a:solidFill>
                  <a:srgbClr val="222222"/>
                </a:solidFill>
              </a:rPr>
              <a:t>Standard Samsung TV navigation behavior is used in the current release.</a:t>
            </a:r>
            <a:endParaRPr sz="2200" i="1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The app focuses on directional focus movement and Back key behavior.</a:t>
            </a:r>
          </a:p>
          <a:p>
            <a:r>
              <a:rPr sz="1800" b="0">
                <a:solidFill>
                  <a:srgbClr val="222222"/>
                </a:solidFill>
              </a:rPr>
              <a:t>Updated return key policy now includes exit confirmation on home screen.</a:t>
            </a:r>
          </a:p>
        </p:txBody>
      </p:sp>
      <p:graphicFrame>
        <p:nvGraphicFramePr>
          <p:cNvPr id="202" name="Google Shape;202;p25"/>
          <p:cNvGraphicFramePr/>
          <p:nvPr/>
        </p:nvGraphicFramePr>
        <p:xfrm>
          <a:off x="539552" y="249289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{F0D7D541-CF8F-4543-9F64-9DD65BD08CB1}</a:tableStyleId>
              </a:tblPr>
              <a:tblGrid>
                <a:gridCol w="139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28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6375">
                <a:tc>
                  <a:txBody>
                    <a:bodyPr/>
                    <a:lstStyle/>
                    <a:p>
                      <a:r>
                        <a:rPr sz="1100" b="1"/>
                        <a:t>Button</a:t>
                      </a:r>
                    </a:p>
                  </a:txBody>
                  <a:tcPr marL="36000" marR="36000" marT="36000" marB="72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Action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Remarks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ENTER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Select the focused card, button, or action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Standard selection behavior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UP / DOWN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Move focus vertically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Stops at the screen edge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LEFT / RIGHT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Move focus horizontally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Stops at the screen edge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BACK / RETURN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Go to previous screen or show exit confirmation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Exit dialog on home screen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PLAY / PAUSE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Control timer-based workout flow when applicable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Current workout flow only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EXIT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Close the application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Standard Samsung TV behavior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COLOR KEYS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CHANNEL / NUMBER KEYS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FAST FORWARD / REWIND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6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Additional Notes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4400" y="1645920"/>
            <a:ext cx="68580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222222"/>
                </a:solidFill>
              </a:rPr>
              <a:t>Language support</a:t>
            </a:r>
          </a:p>
          <a:p>
            <a:r>
              <a:rPr sz="1800" b="0">
                <a:solidFill>
                  <a:srgbClr val="222222"/>
                </a:solidFill>
              </a:rPr>
              <a:t>This version supports English only. No in-app language change menu is provided.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Seller / Support</a:t>
            </a:r>
          </a:p>
          <a:p>
            <a:r>
              <a:rPr sz="1800" b="0">
                <a:solidFill>
                  <a:srgbClr val="222222"/>
                </a:solidFill>
              </a:rPr>
              <a:t>Seller: Your Company Name</a:t>
            </a:r>
          </a:p>
          <a:p>
            <a:r>
              <a:rPr sz="1800" b="0">
                <a:solidFill>
                  <a:srgbClr val="222222"/>
                </a:solidFill>
              </a:rPr>
              <a:t>Support E-mail: your-support@example.com</a:t>
            </a:r>
          </a:p>
          <a:p>
            <a:r>
              <a:rPr sz="1800" b="0">
                <a:solidFill>
                  <a:srgbClr val="222222"/>
                </a:solidFill>
              </a:rPr>
              <a:t>Support URL: https://your-domain.example</a:t>
            </a:r>
          </a:p>
          <a:p>
            <a:r>
              <a:rPr sz="1800" b="0">
                <a:solidFill>
                  <a:srgbClr val="222222"/>
                </a:solidFill>
              </a:rPr>
              <a:t>Seller Address: Your Address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Additional notes</a:t>
            </a:r>
          </a:p>
          <a:p>
            <a:r>
              <a:rPr sz="1800" b="0">
                <a:solidFill>
                  <a:srgbClr val="222222"/>
                </a:solidFill>
              </a:rPr>
              <a:t>This app is a Samsung TV web application package (.wgt).</a:t>
            </a:r>
          </a:p>
          <a:p>
            <a:r>
              <a:rPr sz="1800" b="0">
                <a:solidFill>
                  <a:srgbClr val="222222"/>
                </a:solidFill>
              </a:rPr>
              <a:t>The current release focuses on workout browsing, plan selection, and guided remote-based workout 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흐름">
  <a:themeElements>
    <a:clrScheme name="흐름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흐름">
  <a:themeElements>
    <a:clrScheme name="흐름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747</Words>
  <Application>Microsoft Office PowerPoint</Application>
  <PresentationFormat>全屏显示(4:3)</PresentationFormat>
  <Paragraphs>145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Constantia</vt:lpstr>
      <vt:lpstr>Calibri</vt:lpstr>
      <vt:lpstr>Arial</vt:lpstr>
      <vt:lpstr>Noto Sans Symbols</vt:lpstr>
      <vt:lpstr>흐름</vt:lpstr>
      <vt:lpstr>흐름</vt:lpstr>
      <vt:lpstr>FitPulse Description</vt:lpstr>
      <vt:lpstr>Revision History</vt:lpstr>
      <vt:lpstr>Contents</vt:lpstr>
      <vt:lpstr>UI Structure</vt:lpstr>
      <vt:lpstr>UI Structure - Flow Graph</vt:lpstr>
      <vt:lpstr>UI Structure - Depth Navigation</vt:lpstr>
      <vt:lpstr>Usage Scenario</vt:lpstr>
      <vt:lpstr>Usage Scenario</vt:lpstr>
      <vt:lpstr>PowerPoint 演示文稿</vt:lpstr>
      <vt:lpstr>Menu &amp; Function Description</vt:lpstr>
      <vt:lpstr>PowerPoint 演示文稿</vt:lpstr>
      <vt:lpstr>Key Policy</vt:lpstr>
      <vt:lpstr>Additional Notes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oneting zhang</cp:lastModifiedBy>
  <cp:revision>1</cp:revision>
  <dcterms:modified xsi:type="dcterms:W3CDTF">2026-03-25T06:32:38Z</dcterms:modified>
</cp:coreProperties>
</file>