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68580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font" Target="fonts/Constantia-regular.fntdata"/><Relationship Id="rId21" Type="http://schemas.openxmlformats.org/officeDocument/2006/relationships/font" Target="fonts/Constantia-bold.fntdata"/><Relationship Id="rId22" Type="http://schemas.openxmlformats.org/officeDocument/2006/relationships/font" Target="fonts/Constantia-italic.fntdata"/><Relationship Id="rId23" Type="http://schemas.openxmlformats.org/officeDocument/2006/relationships/font" Target="fonts/Constantia-boldItalic.fntdata"/><Relationship Id="rId24" Type="http://schemas.openxmlformats.org/officeDocument/2006/relationships/font" Target="fonts/CenturyGothic-regular.fntdata"/><Relationship Id="rId25" Type="http://schemas.openxmlformats.org/officeDocument/2006/relationships/font" Target="fonts/CenturyGothic-bold.fntdata"/><Relationship Id="rId26" Type="http://schemas.openxmlformats.org/officeDocument/2006/relationships/font" Target="fonts/CenturyGothic-italic.fntdata"/><Relationship Id="rId27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showMasterSp="0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0289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9463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0289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9463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r>
              <a:t>FitPulse TV Description</a:t>
            </a:r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r>
              <a:t>Your Company 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Revision History</a:t>
            </a:r>
          </a:p>
        </p:txBody>
      </p:sp>
      <p:graphicFrame>
        <p:nvGraphicFramePr>
          <p:cNvPr id="123" name="Google Shape;123;p17"/>
          <p:cNvGraphicFramePr/>
          <p:nvPr/>
        </p:nvGraphicFramePr>
        <p:xfrm>
          <a:off x="457200" y="1935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{25375610-7600-4973-BF82-191DA6F836F1}</a:tableStyleId>
              </a:tblPr>
              <a:tblGrid>
                <a:gridCol w="1090475"/>
                <a:gridCol w="1152125"/>
                <a:gridCol w="3929600"/>
                <a:gridCol w="2057400"/>
              </a:tblGrid>
              <a:tr h="370850">
                <a:tc>
                  <a:txBody>
                    <a:bodyPr/>
                    <a:lstStyle/>
                    <a:p>
                      <a:r>
                        <a:rPr sz="1200" b="1"/>
                        <a:t>Version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rPr sz="1200" b="1"/>
                        <a:t>Date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rPr sz="1200" b="1"/>
                        <a:t>Description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rPr sz="1200" b="1"/>
                        <a:t>Author</a:t>
                      </a: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19, 2026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rPr sz="1200" b="0"/>
                        <a:t>Initial Samsung TV Seller Office UI description for FitPulse TV.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rPr sz="1200" b="0"/>
                        <a:t>Your Company Name</a:t>
                      </a: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/>
                  </a:txBody>
                  <a:tcPr marT="45725" marB="45725" marR="91450" marL="91450"/>
                </a:tc>
                <a:tc>
                  <a:txBody>
                    <a:bodyPr/>
                    <a:lstStyle/>
                    <a:p/>
                  </a:txBody>
                  <a:tcPr marT="45725" marB="45725" marR="91450" marL="91450"/>
                </a:tc>
                <a:tc>
                  <a:txBody>
                    <a:bodyPr/>
                    <a:lstStyle/>
                    <a:p/>
                  </a:txBody>
                  <a:tcPr marT="45725" marB="45725" marR="91450" marL="91450"/>
                </a:tc>
                <a:tc>
                  <a:txBody>
                    <a:bodyPr/>
                    <a:lstStyle/>
                    <a:p/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Contents</a:t>
            </a:r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2400" b="0">
                <a:solidFill>
                  <a:srgbClr val="222222"/>
                </a:solidFill>
              </a:rPr>
              <a:t>UI Structure</a:t>
            </a:r>
            <a:endParaRPr/>
          </a:p>
          <a:p>
            <a:r>
              <a:rPr sz="2400" b="0">
                <a:solidFill>
                  <a:srgbClr val="222222"/>
                </a:solidFill>
              </a:rPr>
              <a:t>Usage Scenario</a:t>
            </a:r>
          </a:p>
          <a:p>
            <a:r>
              <a:rPr sz="2400" b="0">
                <a:solidFill>
                  <a:srgbClr val="222222"/>
                </a:solidFill>
              </a:rPr>
              <a:t>Menu &amp; Function Description</a:t>
            </a:r>
          </a:p>
          <a:p>
            <a:r>
              <a:rPr sz="2400" b="0">
                <a:solidFill>
                  <a:srgbClr val="222222"/>
                </a:solidFill>
              </a:rPr>
              <a:t>Key Policy</a:t>
            </a:r>
          </a:p>
          <a:p>
            <a:r>
              <a:rPr sz="2400" b="0">
                <a:solidFill>
                  <a:srgbClr val="222222"/>
                </a:solidFill>
              </a:rPr>
              <a:t>Additional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UI Structure</a:t>
            </a:r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Whole UI Structure</a:t>
            </a:r>
            <a:endParaRPr/>
          </a:p>
          <a:p/>
          <a:p>
            <a:r>
              <a:rPr sz="1800" b="0">
                <a:solidFill>
                  <a:srgbClr val="222222"/>
                </a:solidFill>
              </a:rPr>
              <a:t>FitPulse TV is a Samsung TV fitness application for browsing workouts,</a:t>
            </a:r>
          </a:p>
          <a:p>
            <a:r>
              <a:rPr sz="1800" b="0">
                <a:solidFill>
                  <a:srgbClr val="222222"/>
                </a:solidFill>
              </a:rPr>
              <a:t>opening guided training plans, and starting remote-friendly workout sessions.</a:t>
            </a:r>
          </a:p>
          <a:p>
            <a:r>
              <a:rPr sz="1800" b="0">
                <a:solidFill>
                  <a:srgbClr val="222222"/>
                </a:solidFill>
              </a:rPr>
              <a:t>Only currently available user flows are described in this document.</a:t>
            </a:r>
          </a:p>
          <a:p/>
          <a:p>
            <a:r>
              <a:rPr sz="1800" b="0">
                <a:solidFill>
                  <a:srgbClr val="222222"/>
                </a:solidFill>
              </a:rPr>
              <a:t>Primary user flow:</a:t>
            </a:r>
          </a:p>
          <a:p>
            <a:r>
              <a:rPr sz="1800" b="0">
                <a:solidFill>
                  <a:srgbClr val="222222"/>
                </a:solidFill>
              </a:rPr>
              <a:t>Welcome -&gt; Profile Ready -&gt; Home</a:t>
            </a:r>
          </a:p>
          <a:p>
            <a:r>
              <a:rPr sz="1800" b="0">
                <a:solidFill>
                  <a:srgbClr val="222222"/>
                </a:solidFill>
              </a:rPr>
              <a:t>Home -&gt; Classic -&gt; Plan Calendar -&gt; Day Detail -&gt; Workout Player</a:t>
            </a:r>
          </a:p>
          <a:p>
            <a:r>
              <a:rPr sz="1800" b="0">
                <a:solidFill>
                  <a:srgbClr val="222222"/>
                </a:solidFill>
              </a:rPr>
              <a:t>Home / Me -&gt; History</a:t>
            </a:r>
          </a:p>
          <a:p/>
          <a:p>
            <a:r>
              <a:rPr sz="1800" b="0">
                <a:solidFill>
                  <a:srgbClr val="222222"/>
                </a:solidFill>
              </a:rPr>
              <a:t>Main screens in the current release:</a:t>
            </a:r>
          </a:p>
          <a:p>
            <a:r>
              <a:rPr sz="1800" b="0">
                <a:solidFill>
                  <a:srgbClr val="222222"/>
                </a:solidFill>
              </a:rPr>
              <a:t>- Home dashboard</a:t>
            </a:r>
          </a:p>
          <a:p>
            <a:r>
              <a:rPr sz="1800" b="0">
                <a:solidFill>
                  <a:srgbClr val="222222"/>
                </a:solidFill>
              </a:rPr>
              <a:t>- Library by body part</a:t>
            </a:r>
          </a:p>
          <a:p>
            <a:r>
              <a:rPr sz="1800" b="0">
                <a:solidFill>
                  <a:srgbClr val="222222"/>
                </a:solidFill>
              </a:rPr>
              <a:t>- Classic programs</a:t>
            </a:r>
          </a:p>
          <a:p>
            <a:r>
              <a:rPr sz="1800" b="0">
                <a:solidFill>
                  <a:srgbClr val="222222"/>
                </a:solidFill>
              </a:rPr>
              <a:t>- Plan calendar and day detail</a:t>
            </a:r>
          </a:p>
          <a:p>
            <a:r>
              <a:rPr sz="1800" b="0">
                <a:solidFill>
                  <a:srgbClr val="222222"/>
                </a:solidFill>
              </a:rPr>
              <a:t>- Workout player and completion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UI Structure - Flow Graph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4400" y="1280160"/>
            <a:ext cx="146304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Welcome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14600" y="1325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926080" y="1280160"/>
            <a:ext cx="169164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709160" y="1325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166360" y="1280160"/>
            <a:ext cx="164592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Library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11880" y="2011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43200" y="2423160"/>
            <a:ext cx="2103120" cy="621792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Classic Programs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657600" y="3154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606040" y="3566160"/>
            <a:ext cx="2377440" cy="621792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Plan Calendar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657600" y="4297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743200" y="4663440"/>
            <a:ext cx="2103120" cy="621792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Day Detail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74920" y="4754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532120" y="4663440"/>
            <a:ext cx="1828800" cy="621792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Workout Player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UI Structure - Depth Navigation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14400" y="1645920"/>
            <a:ext cx="66751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Depth 1 : Welcome, Profile Ready, Home, Library, Classic, Me</a:t>
            </a:r>
          </a:p>
          <a:p>
            <a:r>
              <a:rPr sz="2000" b="0">
                <a:solidFill>
                  <a:srgbClr val="222222"/>
                </a:solidFill>
              </a:rPr>
              <a:t>Depth 2 : History, Plan Calendar, Day Detail</a:t>
            </a:r>
          </a:p>
          <a:p>
            <a:r>
              <a:rPr sz="2000" b="0">
                <a:solidFill>
                  <a:srgbClr val="222222"/>
                </a:solidFill>
              </a:rPr>
              <a:t>Depth 3 : Get Ready, Workout Player, Rest, Workout Complete</a:t>
            </a:r>
          </a:p>
          <a:p/>
          <a:p>
            <a:r>
              <a:rPr sz="2000" b="0">
                <a:solidFill>
                  <a:srgbClr val="222222"/>
                </a:solidFill>
              </a:rPr>
              <a:t>Global UI elements:</a:t>
            </a:r>
          </a:p>
          <a:p>
            <a:r>
              <a:rPr sz="2000" b="0">
                <a:solidFill>
                  <a:srgbClr val="222222"/>
                </a:solidFill>
              </a:rPr>
              <a:t>- Sidebar navigation on main browsing screens</a:t>
            </a:r>
          </a:p>
          <a:p>
            <a:r>
              <a:rPr sz="2000" b="0">
                <a:solidFill>
                  <a:srgbClr val="222222"/>
                </a:solidFill>
              </a:rPr>
              <a:t>- Directional focus highlight</a:t>
            </a:r>
          </a:p>
          <a:p/>
          <a:p>
            <a:r>
              <a:rPr sz="2000" b="0">
                <a:solidFill>
                  <a:srgbClr val="222222"/>
                </a:solidFill>
              </a:rPr>
              <a:t>Contextual UI elements:</a:t>
            </a:r>
          </a:p>
          <a:p>
            <a:r>
              <a:rPr sz="2000" b="0">
                <a:solidFill>
                  <a:srgbClr val="222222"/>
                </a:solidFill>
              </a:rPr>
              <a:t>- Workout plan cards</a:t>
            </a:r>
          </a:p>
          <a:p>
            <a:r>
              <a:rPr sz="2000" b="0">
                <a:solidFill>
                  <a:srgbClr val="222222"/>
                </a:solidFill>
              </a:rPr>
              <a:t>- Day grid in the plan calendar</a:t>
            </a:r>
          </a:p>
          <a:p>
            <a:r>
              <a:rPr sz="2000" b="0">
                <a:solidFill>
                  <a:srgbClr val="222222"/>
                </a:solidFill>
              </a:rPr>
              <a:t>- Start button on day detail page</a:t>
            </a:r>
          </a:p>
          <a:p>
            <a:r>
              <a:rPr sz="2000" b="0">
                <a:solidFill>
                  <a:srgbClr val="222222"/>
                </a:solidFill>
              </a:rPr>
              <a:t>- Timer and action button in workout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Use Case 1: Browse a workout plan and start a guided session.</a:t>
            </a:r>
            <a:endParaRPr/>
          </a:p>
          <a:p/>
          <a:p>
            <a:r>
              <a:rPr sz="1800" b="0">
                <a:solidFill>
                  <a:srgbClr val="222222"/>
                </a:solidFill>
              </a:rPr>
              <a:t>1. Launch the app and go to the Home screen.</a:t>
            </a:r>
          </a:p>
          <a:p>
            <a:r>
              <a:rPr sz="1800" b="0">
                <a:solidFill>
                  <a:srgbClr val="222222"/>
                </a:solidFill>
              </a:rPr>
              <a:t>2. Open Library or Classic Programs with the remote.</a:t>
            </a:r>
          </a:p>
          <a:p>
            <a:r>
              <a:rPr sz="1800" b="0">
                <a:solidFill>
                  <a:srgbClr val="222222"/>
                </a:solidFill>
              </a:rPr>
              <a:t>3. Select a workout plan from Classic Programs.</a:t>
            </a:r>
          </a:p>
          <a:p>
            <a:r>
              <a:rPr sz="1800" b="0">
                <a:solidFill>
                  <a:srgbClr val="222222"/>
                </a:solidFill>
              </a:rPr>
              <a:t>4. Choose an available day from the plan calendar.</a:t>
            </a:r>
          </a:p>
          <a:p>
            <a:r>
              <a:rPr sz="1800" b="0">
                <a:solidFill>
                  <a:srgbClr val="222222"/>
                </a:solidFill>
              </a:rPr>
              <a:t>5. Review the workout summary on the Day Detail screen.</a:t>
            </a:r>
          </a:p>
          <a:p>
            <a:r>
              <a:rPr sz="1800" b="0">
                <a:solidFill>
                  <a:srgbClr val="222222"/>
                </a:solidFill>
              </a:rPr>
              <a:t>6. Start the workout and continue through the workout player flow.</a:t>
            </a:r>
          </a:p>
          <a:p>
            <a:r>
              <a:rPr sz="1800" b="0">
                <a:solidFill>
                  <a:srgbClr val="222222"/>
                </a:solidFill>
              </a:rPr>
              <a:t>7. Return to previous screens with the Back key.</a:t>
            </a:r>
          </a:p>
          <a:p/>
          <a:p>
            <a:r>
              <a:rPr sz="1800" b="0">
                <a:solidFill>
                  <a:srgbClr val="222222"/>
                </a:solidFill>
              </a:rPr>
              <a:t>No account sign-in, activation, or purchase is required in the current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sz="1800" b="0">
                <a:solidFill>
                  <a:srgbClr val="222222"/>
                </a:solidFill>
              </a:rPr>
              <a:t>Use Case Title: Browse and start a workout session</a:t>
            </a:r>
            <a:endParaRPr i="1" sz="2400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Path: Home -&gt; Classic -&gt; Plan Calendar -&gt; Day Detail -&gt; Workout Player</a:t>
            </a:r>
          </a:p>
          <a:p/>
          <a:p>
            <a:r>
              <a:rPr sz="1800" b="0">
                <a:solidFill>
                  <a:srgbClr val="222222"/>
                </a:solidFill>
              </a:rPr>
              <a:t>Supporting notes:</a:t>
            </a:r>
          </a:p>
          <a:p>
            <a:r>
              <a:rPr sz="1800" b="0">
                <a:solidFill>
                  <a:srgbClr val="222222"/>
                </a:solidFill>
              </a:rPr>
              <a:t>- Users can also browse workouts from Library.</a:t>
            </a:r>
          </a:p>
          <a:p>
            <a:r>
              <a:rPr sz="1800" b="0">
                <a:solidFill>
                  <a:srgbClr val="222222"/>
                </a:solidFill>
              </a:rPr>
              <a:t>- The TV remote is used for directional focus navigation.</a:t>
            </a:r>
          </a:p>
          <a:p>
            <a:r>
              <a:rPr sz="1800" b="0">
                <a:solidFill>
                  <a:srgbClr val="222222"/>
                </a:solidFill>
              </a:rPr>
              <a:t>- The completion summary appears after the guided workout flow.</a:t>
            </a:r>
          </a:p>
          <a:p/>
          <a:p>
            <a:r>
              <a:rPr sz="1800" b="0">
                <a:solidFill>
                  <a:srgbClr val="222222"/>
                </a:solidFill>
              </a:rPr>
              <a:t>No account login is required.</a:t>
            </a:r>
          </a:p>
          <a:p>
            <a:r>
              <a:rPr sz="1800" b="0">
                <a:solidFill>
                  <a:srgbClr val="222222"/>
                </a:solidFill>
              </a:rPr>
              <a:t>No in-app purchase is required.</a:t>
            </a:r>
          </a:p>
        </p:txBody>
      </p:sp>
      <p:pic>
        <p:nvPicPr>
          <p:cNvPr id="188" name="Picture 187" descr="10-usage-scenario-coll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27" y="2928934"/>
            <a:ext cx="6873159" cy="39290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Menu &amp; Function Description</a:t>
            </a:r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Screen descriptions in the current release:</a:t>
            </a:r>
            <a:endParaRPr i="1">
              <a:solidFill>
                <a:srgbClr val="54A838"/>
              </a:solidFill>
            </a:endParaRPr>
          </a:p>
          <a:p/>
          <a:p>
            <a:r>
              <a:rPr sz="1800" b="0">
                <a:solidFill>
                  <a:srgbClr val="222222"/>
                </a:solidFill>
              </a:rPr>
              <a:t>Home: weekly activity, resume card, and recommended workouts.</a:t>
            </a:r>
          </a:p>
          <a:p>
            <a:r>
              <a:rPr sz="1800" b="0">
                <a:solidFill>
                  <a:srgbClr val="222222"/>
                </a:solidFill>
              </a:rPr>
              <a:t>Library: body-part filter chips and workout cards.</a:t>
            </a:r>
          </a:p>
          <a:p>
            <a:r>
              <a:rPr sz="1800" b="0">
                <a:solidFill>
                  <a:srgbClr val="222222"/>
                </a:solidFill>
              </a:rPr>
              <a:t>Classic Programs: structured plan cards for long-form training.</a:t>
            </a:r>
          </a:p>
          <a:p>
            <a:r>
              <a:rPr sz="1800" b="0">
                <a:solidFill>
                  <a:srgbClr val="222222"/>
                </a:solidFill>
              </a:rPr>
              <a:t>Plan Calendar: day selection for a multi-day workout plan.</a:t>
            </a:r>
          </a:p>
          <a:p>
            <a:r>
              <a:rPr sz="1800" b="0">
                <a:solidFill>
                  <a:srgbClr val="222222"/>
                </a:solidFill>
              </a:rPr>
              <a:t>History: previous completed sessions.</a:t>
            </a:r>
          </a:p>
          <a:p/>
          <a:p>
            <a:r>
              <a:rPr sz="1800" b="0">
                <a:solidFill>
                  <a:srgbClr val="222222"/>
                </a:solidFill>
              </a:rPr>
              <a:t>Only currently implemented screens and functions are described in this document.</a:t>
            </a:r>
          </a:p>
        </p:txBody>
      </p:sp>
      <p:pic>
        <p:nvPicPr>
          <p:cNvPr id="195" name="Picture 194" descr="11-menu-function-coll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2471236"/>
            <a:ext cx="8064896" cy="36724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Key Policy</a:t>
            </a:r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sz="1800" b="0">
                <a:solidFill>
                  <a:srgbClr val="222222"/>
                </a:solidFill>
              </a:rPr>
              <a:t>Standard Samsung TV navigation behavior is used in the current release.</a:t>
            </a:r>
            <a:endParaRPr i="1" sz="2200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The app focuses on directional focus movement and Back key behavior.</a:t>
            </a: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/>
                <a:gridCol w="4728925"/>
                <a:gridCol w="1800200"/>
              </a:tblGrid>
              <a:tr h="366375">
                <a:tc>
                  <a:txBody>
                    <a:bodyPr/>
                    <a:lstStyle/>
                    <a:p>
                      <a:r>
                        <a:rPr sz="1100" b="1"/>
                        <a:t>Button</a:t>
                      </a:r>
                    </a:p>
                  </a:txBody>
                  <a:tcPr marT="36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Action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Remarks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ENTER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Select the focused card, button, or action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selection behavior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UP / DOWN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vertically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Stops at the screen edge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LEFT / RIGHT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horizontally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Stops at the screen edge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BACK / RETURN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Go to the previous screen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Samsung TV behavior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PLAY / PAUSE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Control timer-based workout flow when applicable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Current workout flow only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EXIT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Close the application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Samsung TV behavior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COLOR KEYS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CHANNEL / NUMBER KEYS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FAST FORWARD / REWIND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r>
              <a:t>Additional Notes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14400" y="1645920"/>
            <a:ext cx="6858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Language support</a:t>
            </a:r>
          </a:p>
          <a:p>
            <a:r>
              <a:rPr sz="1800" b="0">
                <a:solidFill>
                  <a:srgbClr val="222222"/>
                </a:solidFill>
              </a:rPr>
              <a:t>This version supports English only. No in-app language change menu is provided.</a:t>
            </a:r>
          </a:p>
          <a:p/>
          <a:p>
            <a:r>
              <a:rPr sz="1800" b="0">
                <a:solidFill>
                  <a:srgbClr val="222222"/>
                </a:solidFill>
              </a:rPr>
              <a:t>Seller / Support</a:t>
            </a:r>
          </a:p>
          <a:p>
            <a:r>
              <a:rPr sz="1800" b="0">
                <a:solidFill>
                  <a:srgbClr val="222222"/>
                </a:solidFill>
              </a:rPr>
              <a:t>Seller: Your Company Name</a:t>
            </a:r>
          </a:p>
          <a:p>
            <a:r>
              <a:rPr sz="1800" b="0">
                <a:solidFill>
                  <a:srgbClr val="222222"/>
                </a:solidFill>
              </a:rPr>
              <a:t>Support E-mail: your-support@example.com</a:t>
            </a:r>
          </a:p>
          <a:p>
            <a:r>
              <a:rPr sz="1800" b="0">
                <a:solidFill>
                  <a:srgbClr val="222222"/>
                </a:solidFill>
              </a:rPr>
              <a:t>Support URL: https://your-domain.example</a:t>
            </a:r>
          </a:p>
          <a:p>
            <a:r>
              <a:rPr sz="1800" b="0">
                <a:solidFill>
                  <a:srgbClr val="222222"/>
                </a:solidFill>
              </a:rPr>
              <a:t>Seller Address: Your Address</a:t>
            </a:r>
          </a:p>
          <a:p/>
          <a:p>
            <a:r>
              <a:rPr sz="1800" b="0">
                <a:solidFill>
                  <a:srgbClr val="222222"/>
                </a:solidFill>
              </a:rPr>
              <a:t>Additional notes</a:t>
            </a:r>
          </a:p>
          <a:p>
            <a:r>
              <a:rPr sz="1800" b="0">
                <a:solidFill>
                  <a:srgbClr val="222222"/>
                </a:solidFill>
              </a:rPr>
              <a:t>This app is a Samsung TV web application package (.wgt).</a:t>
            </a:r>
          </a:p>
          <a:p>
            <a:r>
              <a:rPr sz="1800" b="0">
                <a:solidFill>
                  <a:srgbClr val="222222"/>
                </a:solidFill>
              </a:rPr>
              <a:t>The current release focuses on workout browsing, plan selection, and guided remote-based workout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